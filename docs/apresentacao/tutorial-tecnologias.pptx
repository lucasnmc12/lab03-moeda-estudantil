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70fcddeb1446f2" /><Relationship Type="http://schemas.openxmlformats.org/officeDocument/2006/relationships/extended-properties" Target="/docProps/app.xml" Id="R67af2ae4df2c4c7b" /><Relationship Type="http://schemas.openxmlformats.org/officeDocument/2006/relationships/officeDocument" Target="/ppt/presentation.xml" Id="R2a82eb199bcb4e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b744935b9d4097"/>
  </p:sldMasterIdLst>
  <p:notesMasterIdLst>
    <p:notesMasterId xmlns:r="http://schemas.openxmlformats.org/officeDocument/2006/relationships" r:id="R35d24ed5d79c4cd3"/>
  </p:notesMasterIdLst>
  <p:sldIdLst>
    <p:sldId xmlns:r="http://schemas.openxmlformats.org/officeDocument/2006/relationships" id="256" r:id="R8fe129cc79924e7c"/>
    <p:sldId xmlns:r="http://schemas.openxmlformats.org/officeDocument/2006/relationships" id="257" r:id="Rb450123e689a4677"/>
    <p:sldId xmlns:r="http://schemas.openxmlformats.org/officeDocument/2006/relationships" id="258" r:id="R4bab28c5ff784704"/>
    <p:sldId xmlns:r="http://schemas.openxmlformats.org/officeDocument/2006/relationships" id="259" r:id="R6926f60c3c8e4494"/>
    <p:sldId xmlns:r="http://schemas.openxmlformats.org/officeDocument/2006/relationships" id="260" r:id="R0a683644fcde444e"/>
    <p:sldId xmlns:r="http://schemas.openxmlformats.org/officeDocument/2006/relationships" id="261" r:id="Rf6782f69f4c444e9"/>
    <p:sldId xmlns:r="http://schemas.openxmlformats.org/officeDocument/2006/relationships" id="262" r:id="R0c079823c78c41d3"/>
    <p:sldId xmlns:r="http://schemas.openxmlformats.org/officeDocument/2006/relationships" id="263" r:id="R54a3cfa7ad444fda"/>
    <p:sldId xmlns:r="http://schemas.openxmlformats.org/officeDocument/2006/relationships" id="264" r:id="R1309d946384d4a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ae665eb49440d6" /><Relationship Type="http://schemas.openxmlformats.org/officeDocument/2006/relationships/slideMaster" Target="/ppt/slideMasters/slideMaster1.xml" Id="Rc1b744935b9d4097" /><Relationship Type="http://schemas.openxmlformats.org/officeDocument/2006/relationships/notesMaster" Target="/ppt/notesMasters/notesMaster1.xml" Id="R35d24ed5d79c4cd3" /><Relationship Type="http://schemas.openxmlformats.org/officeDocument/2006/relationships/presProps" Target="/ppt/presProps.xml" Id="Rfe169c3f1615484f" /><Relationship Type="http://schemas.openxmlformats.org/officeDocument/2006/relationships/tableStyles" Target="/ppt/tableStyles.xml" Id="Re805595a4e414a52" /><Relationship Type="http://schemas.openxmlformats.org/officeDocument/2006/relationships/slide" Target="/ppt/slides/slide1.xml" Id="R8fe129cc79924e7c" /><Relationship Type="http://schemas.openxmlformats.org/officeDocument/2006/relationships/slide" Target="/ppt/slides/slide2.xml" Id="Rb450123e689a4677" /><Relationship Type="http://schemas.openxmlformats.org/officeDocument/2006/relationships/slide" Target="/ppt/slides/slide3.xml" Id="R4bab28c5ff784704" /><Relationship Type="http://schemas.openxmlformats.org/officeDocument/2006/relationships/slide" Target="/ppt/slides/slide4.xml" Id="R6926f60c3c8e4494" /><Relationship Type="http://schemas.openxmlformats.org/officeDocument/2006/relationships/slide" Target="/ppt/slides/slide5.xml" Id="R0a683644fcde444e" /><Relationship Type="http://schemas.openxmlformats.org/officeDocument/2006/relationships/slide" Target="/ppt/slides/slide6.xml" Id="Rf6782f69f4c444e9" /><Relationship Type="http://schemas.openxmlformats.org/officeDocument/2006/relationships/slide" Target="/ppt/slides/slide7.xml" Id="R0c079823c78c41d3" /><Relationship Type="http://schemas.openxmlformats.org/officeDocument/2006/relationships/slide" Target="/ppt/slides/slide8.xml" Id="R54a3cfa7ad444fda" /><Relationship Type="http://schemas.openxmlformats.org/officeDocument/2006/relationships/slide" Target="/ppt/slides/slide9.xml" Id="R1309d946384d4a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bacc258c3345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5b63450b514449" /><Relationship Type="http://schemas.openxmlformats.org/officeDocument/2006/relationships/notesMaster" Target="/ppt/notesMasters/notesMaster1.xml" Id="Rd6b73794698d4a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483d61ef564aae" /><Relationship Type="http://schemas.openxmlformats.org/officeDocument/2006/relationships/notesMaster" Target="/ppt/notesMasters/notesMaster1.xml" Id="R3fac4d2dbb44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72edc1218d4610" /><Relationship Type="http://schemas.openxmlformats.org/officeDocument/2006/relationships/notesMaster" Target="/ppt/notesMasters/notesMaster1.xml" Id="R1e5fb813c6074d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52ccc4d23c45ae" /><Relationship Type="http://schemas.openxmlformats.org/officeDocument/2006/relationships/notesMaster" Target="/ppt/notesMasters/notesMaster1.xml" Id="R25654b5e77494d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2c5fa82c5347ba" /><Relationship Type="http://schemas.openxmlformats.org/officeDocument/2006/relationships/notesMaster" Target="/ppt/notesMasters/notesMaster1.xml" Id="R1fb8d008fd6447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92d158bbe9496e" /><Relationship Type="http://schemas.openxmlformats.org/officeDocument/2006/relationships/notesMaster" Target="/ppt/notesMasters/notesMaster1.xml" Id="R0b3cfca9effe45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ef35ed77574006" /><Relationship Type="http://schemas.openxmlformats.org/officeDocument/2006/relationships/notesMaster" Target="/ppt/notesMasters/notesMaster1.xml" Id="R662f46cdae924a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b10bd9b6b54dcf" /><Relationship Type="http://schemas.openxmlformats.org/officeDocument/2006/relationships/notesMaster" Target="/ppt/notesMasters/notesMaster1.xml" Id="Re9b6ece5adfe49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f22de16ab94f49" /><Relationship Type="http://schemas.openxmlformats.org/officeDocument/2006/relationships/notesMaster" Target="/ppt/notesMasters/notesMaster1.xml" Id="R79e5f1422c8644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Lucas Nogueira. Material preparado com apoio do Codex, da OpenAI. Base: enunciado do Laboratório 03 e implementação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0:00–2:00, incluindo capa. Conceituar Spring Boot como configuração e execução da aplicação. MVC separa HTTP, regras e apresentação. Relacionar classes reais do projeto.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2:00–4:00. Abrir Aluno.java, UsuarioRepository.java e V1__cria_estrutura.sql. Comparar PK/FK com o ER. Explicar por que ORM não elimina schema ou transações.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4:00–6:00. Abrir SegurancaConfig.java e o template contas/formulario.html. Mostrar BCrypt e CSRF. Login por email. A checagem de dono está no service, além dos controles de rota.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6:00–8:00. Abrir dois terminais na raiz. Mostrar que o capturador escreve apenas em dados/emails e não entrega nada à internet. Já deixar o build pronto antes da aula.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8:00–12:00. Criar aluno com CPF fictício válido 52998224725, instituição de demonstração e email local. Testar email/CPF inválidos, corrigir, salvar. Entrar, consultar e editar. Repetir com empresa. Usar conta descartável para remoção, mostrando o logout e preservação do histórico. Não remover a conta que será usada no fluxo de moedas.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12:00–16:00. Professor demo: professor@demo.local / Professor123!. Enviar 120 moedas com motivo. Parceiro cria vantagem de 40 moedas com PNG/JPEG. Aluno resgata e recebe saldo 80. Abrir localhost:8025 e comparar o UUID nos dois emails. Parceiro confirma cupom e demonstra bloqueio de segunda confirmação.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16:00–18:00. Explicar os dois defeitos realmente encontrados nesta execução. Lock tardio em JOINED permitia perda de atualização e foi corrigido bloqueando antes de ler. Thymeleaf bloqueou reflexão sobre class e foi substituído por propriedade de apresentação. Mostrar testes de regressão.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18:00–20:00. Rodar suite previamente preparada. Explicar o teste SMTP real com servidor em loopback e o teste H2 em arquivo. Abrir uma asserção de acesso negado. Perguntas: onde está a regra de saldo? O que acontece se o SMTP falhar? Como evitar cupom usado duas vezes? Encerrar aos 20 minutos.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c9c4602db41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6b6db000b45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b3ead1a8d49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81e00ce8c4d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ac49554e84b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ce243792848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14D9FA-2CB5-4F98-BBD6-C5032703A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08DCBF-E2F4-497C-BDE1-D101735095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E6E2AD-F21A-48B5-908A-0A34843CB1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01C9DD-6F28-4AA3-B81C-E3089E3CA2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C950D8-F94B-4EDC-BA43-868025CB27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04F5C2-8FEF-4810-B332-C7D4F01C92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766E9E-330B-4ED5-B375-40B13F8B54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959C19-381B-41A1-9585-738B5644D4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769E1D-3499-4B62-B815-3BAC46C49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3F3CE6-EDB6-49CF-9503-0A4BC2B032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75efa6ed8e4287" /><Relationship Type="http://schemas.openxmlformats.org/officeDocument/2006/relationships/slideLayout" Target="/ppt/slideLayouts/slideLayout1.xml" Id="Rf485b431d18a4d56" /><Relationship Type="http://schemas.openxmlformats.org/officeDocument/2006/relationships/slideLayout" Target="/ppt/slideLayouts/slideLayout2.xml" Id="R4d9682f715f24fbd" /><Relationship Type="http://schemas.openxmlformats.org/officeDocument/2006/relationships/slideLayout" Target="/ppt/slideLayouts/slideLayout3.xml" Id="R0a0cac7887a24bc6" /><Relationship Type="http://schemas.openxmlformats.org/officeDocument/2006/relationships/slideLayout" Target="/ppt/slideLayouts/slideLayout4.xml" Id="R90c91d2f38ac4380" /><Relationship Type="http://schemas.openxmlformats.org/officeDocument/2006/relationships/slideLayout" Target="/ppt/slideLayouts/slideLayout5.xml" Id="Rbb68aac922214c93" /><Relationship Type="http://schemas.openxmlformats.org/officeDocument/2006/relationships/slideLayout" Target="/ppt/slideLayouts/slideLayout6.xml" Id="Refd36449b4f24e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5b431d18a4d56"/>
    <p:sldLayoutId xmlns:r="http://schemas.openxmlformats.org/officeDocument/2006/relationships" id="2147483650" r:id="R4d9682f715f24fbd"/>
    <p:sldLayoutId xmlns:r="http://schemas.openxmlformats.org/officeDocument/2006/relationships" id="2147483651" r:id="R0a0cac7887a24bc6"/>
    <p:sldLayoutId xmlns:r="http://schemas.openxmlformats.org/officeDocument/2006/relationships" id="2147483652" r:id="R90c91d2f38ac4380"/>
    <p:sldLayoutId xmlns:r="http://schemas.openxmlformats.org/officeDocument/2006/relationships" id="2147483653" r:id="Rbb68aac922214c93"/>
    <p:sldLayoutId xmlns:r="http://schemas.openxmlformats.org/officeDocument/2006/relationships" id="2147483654" r:id="Refd36449b4f24e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140e963d04daf" /><Relationship Type="http://schemas.openxmlformats.org/officeDocument/2006/relationships/notesSlide" Target="/ppt/notesSlides/notesSlide1.xml" Id="Rb108b054de8841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89cc4b1424b2f" /><Relationship Type="http://schemas.openxmlformats.org/officeDocument/2006/relationships/notesSlide" Target="/ppt/notesSlides/notesSlide2.xml" Id="Re953d131609b4f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4392364674804" /><Relationship Type="http://schemas.openxmlformats.org/officeDocument/2006/relationships/notesSlide" Target="/ppt/notesSlides/notesSlide3.xml" Id="R869167668c124a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cdef3614b4730" /><Relationship Type="http://schemas.openxmlformats.org/officeDocument/2006/relationships/notesSlide" Target="/ppt/notesSlides/notesSlide4.xml" Id="R7fdceb6ac1e44a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331c4b4a84cae" /><Relationship Type="http://schemas.openxmlformats.org/officeDocument/2006/relationships/notesSlide" Target="/ppt/notesSlides/notesSlide5.xml" Id="R3ff9478c92e843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bc27a1b864035" /><Relationship Type="http://schemas.openxmlformats.org/officeDocument/2006/relationships/notesSlide" Target="/ppt/notesSlides/notesSlide6.xml" Id="R1598b655841846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afd19122e406c" /><Relationship Type="http://schemas.openxmlformats.org/officeDocument/2006/relationships/notesSlide" Target="/ppt/notesSlides/notesSlide7.xml" Id="R5eb9b33c8e344e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a3fbb0c9b4a5c" /><Relationship Type="http://schemas.openxmlformats.org/officeDocument/2006/relationships/notesSlide" Target="/ppt/notesSlides/notesSlide8.xml" Id="R1bc3915fbedc47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ab45f2612443a" /><Relationship Type="http://schemas.openxmlformats.org/officeDocument/2006/relationships/notesSlide" Target="/ppt/notesSlides/notesSlide9.xml" Id="Rf9a8f2f0ba0249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8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61F69-952D-4403-A472-FE2A41DC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C76A"/>
                </a:solidFill>
                <a:latin typeface="Arial"/>
                <a:ea typeface="Arial"/>
                <a:cs typeface="Arial"/>
              </a:rPr>
              <a:t>LABORATÓRIO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0764F-D2C1-4D72-BAF8-44806B4C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Tecnologias em prática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27070-F0C8-4F81-A1B3-6A732B1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Tutorial de 20 minutos · Moeda Estudantil</a:t>
            </a:r>
          </a:p>
          <a:p xmlns:a="http://schemas.openxmlformats.org/drawingml/2006/main">
            <a: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Lucas Nogueira</a:t>
            </a:r>
          </a:p>
        </p:txBody>
      </p:sp>
    </p:spTree>
    <p:extLst>
      <p:ext uri="{BB962C8B-B14F-4D97-AF65-F5344CB8AC3E}">
        <p14:creationId xmlns:p14="http://schemas.microsoft.com/office/powerpoint/2010/main" val="1173769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B4332-BBBB-44BA-8119-D2A41238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O caminho de uma requisição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8D73C-189B-4AC6-9BEF-9ACA6C3B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4DA04-15A4-4262-BECC-A7A37A91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Spring Boot inicia a aplicação e integra os componentes.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FB610-001A-45F4-98A1-9C378C42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Spring MVC recebe o formulário e escolhe a página.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BDE53-F458-4639-A5B2-357F3E14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Thymeleaf monta o HTML com dados do modelo.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31CCA-2915-4BB4-9C25-9025EF94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O service aplica a regra antes de chamar o repository.</a:t>
            </a:r>
          </a:p>
        </p:txBody>
      </p:sp>
    </p:spTree>
    <p:extLst>
      <p:ext uri="{BB962C8B-B14F-4D97-AF65-F5344CB8AC3E}">
        <p14:creationId xmlns:p14="http://schemas.microsoft.com/office/powerpoint/2010/main" val="956802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C7760-60D5-4B55-9763-9E571182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ORM e migrações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6EB6E-345B-4887-886E-D5806B03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3A88C-FD32-49D1-BC73-DA5CBD2A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JPA descreve entidades e relacionamentos em Java.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E0F7B-BAB8-4C20-95A1-F1B48D8E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Hibernate traduz o mapeamento para o banco relacional.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522AF-F202-47CA-8A4F-DE08C924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Spring Data fornece repositórios e consultas.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51BB2-0200-4884-AF2B-AAF01301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Flyway aplica a migração V1. Hibernate confere o resultado.</a:t>
            </a:r>
          </a:p>
        </p:txBody>
      </p:sp>
    </p:spTree>
    <p:extLst>
      <p:ext uri="{BB962C8B-B14F-4D97-AF65-F5344CB8AC3E}">
        <p14:creationId xmlns:p14="http://schemas.microsoft.com/office/powerpoint/2010/main" val="2130036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4A387-7EC5-46AA-B94C-C7D256B6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Autenticação e formulários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6C22E-E21C-46D6-B4B6-1C4F7B7E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E12A2-A9AE-45D2-9F78-DACBAD9C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BCrypt armazena o hash da senha.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509FF-440C-42B8-BC38-407C6496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Spring Security mantém a sessão e exige CSRF nos POST.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E4D43-FF7C-4D99-84BD-3C0B5A52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DTOs recebem os campos permitidos. Saldo fica fora do formulário.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85F28-1AC0-47A5-9DE1-80738B54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Bean Validation e mensagens orientam a correção dos dados.</a:t>
            </a:r>
          </a:p>
        </p:txBody>
      </p:sp>
    </p:spTree>
    <p:extLst>
      <p:ext uri="{BB962C8B-B14F-4D97-AF65-F5344CB8AC3E}">
        <p14:creationId xmlns:p14="http://schemas.microsoft.com/office/powerpoint/2010/main" val="347940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1B542-9396-48B4-A3CE-2F09EDF6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Preparação da 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FC8FB-054D-49FF-8531-43BD9421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BB0E5-DC8F-48A4-9E6C-00452F01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Terminal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C6840-5478-43DF-94BB-7797EBF7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python3 scripts/smtp_local.py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5A555-B615-49E6-9B74-F59D533A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Terminal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FD744-070C-4627-96B2-892821CF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./mvnw spring-boot:run -Dspring-boot.run.profiles=demo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BDC5E-66D9-4896-9C7B-59416774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Aplicação: localhost:8080     Caixa local: localhost:8025</a:t>
            </a:r>
          </a:p>
        </p:txBody>
      </p:sp>
    </p:spTree>
    <p:extLst>
      <p:ext uri="{BB962C8B-B14F-4D97-AF65-F5344CB8AC3E}">
        <p14:creationId xmlns:p14="http://schemas.microsoft.com/office/powerpoint/2010/main" val="1735722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2B8AB-2923-469B-8755-CB73AFFF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Demonstração dos CRUDs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AD67F-5597-4085-9F44-5A2EF41B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76764-1E6A-4E08-B045-9B715614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Cadastro de aluno e seleção da instituição.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A645E-ED01-4212-91B9-50BEA264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Entrada inválida, mensagem e correção.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4ED12-305D-4138-A03C-8B736F56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Consulta, edição e remoção de conta descartável.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5EFF8-5C14-43C5-9181-F23D40AF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Cadastro e edição da empresa parceira.</a:t>
            </a:r>
          </a:p>
        </p:txBody>
      </p:sp>
    </p:spTree>
    <p:extLst>
      <p:ext uri="{BB962C8B-B14F-4D97-AF65-F5344CB8AC3E}">
        <p14:creationId xmlns:p14="http://schemas.microsoft.com/office/powerpoint/2010/main" val="1951456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ECBEA-0D8A-4AA6-B10B-24D110F3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Reconhecimento e resgate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78951-039E-47E7-8F4D-707A6388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354A5-F5D7-445C-9F4E-B33DAB24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Professor reconhece o aluno com 120 moedas e motivo.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20619-DCF1-4B78-877A-DD6EE8F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Empresa oferece uma vantagem por 40 moedas.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0DF4F-BB40-4358-9E3B-61D87D22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Aluno resgata, consulta saldo de 80 e apresenta o cupom.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E866F-F16B-48B1-9F9C-226ED9A5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Parceiro confere o código e confirma o uso.</a:t>
            </a:r>
          </a:p>
        </p:txBody>
      </p:sp>
    </p:spTree>
    <p:extLst>
      <p:ext uri="{BB962C8B-B14F-4D97-AF65-F5344CB8AC3E}">
        <p14:creationId xmlns:p14="http://schemas.microsoft.com/office/powerpoint/2010/main" val="7408581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D5E10-819E-4108-B539-A973C945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Problemas encontrados e testes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B8066-C173-4947-84E0-34BDDCBA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3F7CB-06D9-4550-B9D5-B0F32ABA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Concorrência do saldo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ADA86-0F3B-4D0A-A79D-02AE730D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O teste simultâneo revelou leitura anterior ao bloqueio.</a:t>
            </a:r>
          </a:p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O lock SQL agora antecede a leitura do saldo.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31B3E-BB06-4666-91BF-6FE56D0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Extrato com lançamentos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D2D57-A50B-469D-8BB7-064E496B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A navegação revelou uma expressão inválida no template.</a:t>
            </a:r>
          </a:p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O teste MVC passou a renderizar o extrato preenchido.</a:t>
            </a:r>
          </a:p>
        </p:txBody>
      </p:sp>
    </p:spTree>
    <p:extLst>
      <p:ext uri="{BB962C8B-B14F-4D97-AF65-F5344CB8AC3E}">
        <p14:creationId xmlns:p14="http://schemas.microsoft.com/office/powerpoint/2010/main" val="16307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C15F8-4A8A-4AFE-A8BC-132A5776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Execução dos testes e perguntas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A9AAB-9BAE-4349-985C-C69E8F9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17F64-5D2E-473E-B492-72FEBD57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./mvnw clean verify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CBE26-4528-4299-B1E1-21EAE571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A suíte verifica regras, isolamento de contas, concorrência,</a:t>
            </a:r>
          </a:p>
          <a:p xmlns:a="http://schemas.openxmlformats.org/drawingml/2006/main">
            <a:pPr>
              <a:defRPr sz="23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renderização dos formulários e SMTP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F7FDF-43C8-47E2-AB76-85D53DA8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Perguntas: saldo, falha de email e uso único do cupom.</a:t>
            </a:r>
          </a:p>
        </p:txBody>
      </p:sp>
    </p:spTree>
    <p:extLst>
      <p:ext uri="{BB962C8B-B14F-4D97-AF65-F5344CB8AC3E}">
        <p14:creationId xmlns:p14="http://schemas.microsoft.com/office/powerpoint/2010/main" val="628161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2026-10-18T01:16:52.0230000Z</dcterms:created>
  <dcterms:modified xsi:type="dcterms:W3CDTF">2026-10-18T01:16:52.0230000Z</dcterms:modified>
</coreProperties>
</file>